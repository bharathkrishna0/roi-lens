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consolata" pitchFamily="1" charset="0"/>
      <p:regular r:id="rId13"/>
    </p:embeddedFont>
    <p:embeddedFont>
      <p:font typeface="Inconsolata Bold" pitchFamily="1" charset="0"/>
      <p:regular r:id="rId14"/>
    </p:embeddedFont>
    <p:embeddedFont>
      <p:font typeface="Montserrat Black" panose="00000A00000000000000" pitchFamily="2" charset="0"/>
      <p:regular r:id="rId15"/>
    </p:embeddedFont>
    <p:embeddedFont>
      <p:font typeface="Montserrat Light" panose="000004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35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520651"/>
            <a:ext cx="1926803" cy="266402"/>
          </a:xfrm>
          <a:prstGeom prst="roundRect">
            <a:avLst>
              <a:gd name="adj" fmla="val 2145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563142"/>
            <a:ext cx="22138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NEXUS CONSUMER BRANDS | Q1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8437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ROI Lens: Attribution Truth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4233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Advanced Marketing Attribution &amp; Budget Refinement Strategy — moving from last-click lies to attribution truth. Powered by Ai Palette Consumer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2764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Last-Click Attribution Is Destroying ROI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1420267"/>
            <a:ext cx="472276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₹100 Crore deployed across 5 channels. 47,796 interactions tracked. The attribution model? Last-Click — giving 100% credit to the final touchpoint and ignoring the entire customer journey.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2139032"/>
            <a:ext cx="2303190" cy="1516559"/>
          </a:xfrm>
          <a:prstGeom prst="roundRect">
            <a:avLst>
              <a:gd name="adj" fmla="val 377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9320" y="2272233"/>
            <a:ext cx="169760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Signal Problem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9320" y="2542729"/>
            <a:ext cx="203678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YouTube touched </a:t>
            </a:r>
            <a:r>
              <a:rPr lang="en-US" sz="10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49% of all buyers</a:t>
            </a: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but received only </a:t>
            </a:r>
            <a:r>
              <a:rPr lang="en-US" sz="10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7% of credit.</a:t>
            </a: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Marketplace was massively overfunded on false signals.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15692" y="2139032"/>
            <a:ext cx="2303190" cy="1516559"/>
          </a:xfrm>
          <a:prstGeom prst="roundRect">
            <a:avLst>
              <a:gd name="adj" fmla="val 377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048893" y="227223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Business Cost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048893" y="2542729"/>
            <a:ext cx="203678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Suboptimal budget allocation. Millions wasted on overrated channels. High-performers starved of investment.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96119" y="3771974"/>
            <a:ext cx="4722763" cy="928762"/>
          </a:xfrm>
          <a:prstGeom prst="roundRect">
            <a:avLst>
              <a:gd name="adj" fmla="val 615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651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9320" y="39051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Scale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9320" y="4175671"/>
            <a:ext cx="44563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10 brands. 5 channels. 47,796 consumer interactions — all evaluated through a fundamentally broken lens.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6508"/>
            <a:ext cx="44969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Data Foundation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301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Three datasets formed the analytical backbone of this study — spanning the full consumer journey, audience intelligence, and financial spend across all 10 brands.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56110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964954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touchpoints.csv — The Journey Log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92922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47,796 consumer interactions across 5 channels. Events tracked: Impression, Click, Add-to-Cart, and Purchase.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856110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964954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user_profiles.csv — Persona Intelligence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492922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88,163 user profiles across 4 segments: Fitness Enthusiast, Budget Parent, Premium Gourmet, and Gen-Z Trendseeker — spanning Tier 1, 2, and 3 cities.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856110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964954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campaign_spend.csv — The Financial Layer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4929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50 campaigns across 10 brands. CPC and CPM pricing models. ₹100 Crore total budget deployed last quarter.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E8C87C-6B52-D977-34E9-D08FADD35D0D}"/>
              </a:ext>
            </a:extLst>
          </p:cNvPr>
          <p:cNvSpPr/>
          <p:nvPr/>
        </p:nvSpPr>
        <p:spPr>
          <a:xfrm>
            <a:off x="7778931" y="4626992"/>
            <a:ext cx="1365069" cy="516508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385"/>
            <a:ext cx="80065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46% of Traffic Was Fake — We Found It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06872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27873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Detection Method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324796" y="1641946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Analyzed time gaps between consecutive user events. Real humans cannot interact faster than 2 seconds. All sub-2-second click patterns were flagged as bot activity.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24796" y="2481858"/>
            <a:ext cx="4327773" cy="1006376"/>
          </a:xfrm>
          <a:prstGeom prst="roundRect">
            <a:avLst>
              <a:gd name="adj" fmla="val 56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269215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85494" y="2644825"/>
            <a:ext cx="37253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further analysis performed on </a:t>
            </a:r>
            <a:r>
              <a:rPr lang="en-US" sz="11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clean data only.</a:t>
            </a:r>
            <a:r>
              <a:rPr lang="en-US" sz="11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Last-click was making decisions on corrupted signals.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807172"/>
            <a:ext cx="2622724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39679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47,796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4274493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raw interactions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0601" y="3807172"/>
            <a:ext cx="2622724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97610" y="39679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21,992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3497610" y="4274493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Fraudulent interactions removed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5083" y="3807172"/>
            <a:ext cx="2622724" cy="8549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62092" y="39679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25,804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262092" y="4274493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Clean interactions retained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F79BDE-0BDA-3792-DF7F-4391B896A664}"/>
              </a:ext>
            </a:extLst>
          </p:cNvPr>
          <p:cNvSpPr/>
          <p:nvPr/>
        </p:nvSpPr>
        <p:spPr>
          <a:xfrm>
            <a:off x="7717242" y="4871182"/>
            <a:ext cx="1365069" cy="258254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40884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Introducing Markov Chain Attribution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 flipH="1">
            <a:off x="496119" y="652184"/>
            <a:ext cx="876489" cy="54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Unlike last-click, Markov Chain models the </a:t>
            </a:r>
            <a:r>
              <a:rPr lang="en-US" sz="12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probability of moving between channels</a:t>
            </a: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b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</a:b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— asking: </a:t>
            </a:r>
            <a:r>
              <a:rPr lang="en-US" sz="12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"If we remove this channel, how many purchases do we lose?"</a:t>
            </a: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b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</a:b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That loss equals the channel's true contribution</a:t>
            </a: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797" y="807021"/>
            <a:ext cx="6298332" cy="4340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80542" y="3507787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Build Journeys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47219" y="1685108"/>
            <a:ext cx="1777080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Count Transitions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40176" y="4041598"/>
            <a:ext cx="1721164" cy="458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Compute Removal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7990" y="2164915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Assign Credits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518725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Every channel gets fair credit for its role in the journey — not just the final step before purchase.</a:t>
            </a:r>
            <a:endParaRPr lang="en-US" sz="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D8D70-8A4F-476F-E712-34DE518036C5}"/>
              </a:ext>
            </a:extLst>
          </p:cNvPr>
          <p:cNvSpPr/>
          <p:nvPr/>
        </p:nvSpPr>
        <p:spPr>
          <a:xfrm>
            <a:off x="7778931" y="4626992"/>
            <a:ext cx="1365069" cy="516508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588"/>
            <a:ext cx="7147247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Channels Are Not What You Think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27596"/>
            <a:ext cx="4342358" cy="2980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56671" y="1113011"/>
            <a:ext cx="26016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Channel Roles Identified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4817" y="1448619"/>
            <a:ext cx="192658" cy="1926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74134" y="1444675"/>
            <a:ext cx="27508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Instagram — Primary Converter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574134" y="1761753"/>
            <a:ext cx="30784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Final touchpoint king. Closes purchases.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4817" y="2194471"/>
            <a:ext cx="192658" cy="1926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74134" y="2190527"/>
            <a:ext cx="28714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YouTube — Top-of-Funnel Primer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574134" y="2507605"/>
            <a:ext cx="307843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Starts journeys. Was credited for only 7.5% of buyers despite touching 49%.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4817" y="3136255"/>
            <a:ext cx="192658" cy="1926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74134" y="3132311"/>
            <a:ext cx="3078435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Influencer Blog — Mid-Funnel Nurture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5574134" y="3650084"/>
            <a:ext cx="30784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Builds consideration. Massively undervalued.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4817" y="4082802"/>
            <a:ext cx="192658" cy="1926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74134" y="4078858"/>
            <a:ext cx="265851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Marketplace — Bottom-Funnel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574134" y="4395936"/>
            <a:ext cx="307843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Most expensive per true conversion. Overfunded.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8FFD71-2E3F-901A-2E88-534662CEA76E}"/>
              </a:ext>
            </a:extLst>
          </p:cNvPr>
          <p:cNvSpPr/>
          <p:nvPr/>
        </p:nvSpPr>
        <p:spPr>
          <a:xfrm>
            <a:off x="7778931" y="4626992"/>
            <a:ext cx="1365069" cy="516508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204"/>
            <a:ext cx="501558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Real Cost of Every Purchase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9163"/>
            <a:ext cx="4621337" cy="30884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76118" y="909638"/>
            <a:ext cx="2116262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Delta Is Staggering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76118" y="1148730"/>
            <a:ext cx="3276451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YouTube and Influencer Blog were </a:t>
            </a:r>
            <a:r>
              <a:rPr lang="en-US" sz="8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massively undervalued</a:t>
            </a: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doing heavy lifting early in the journey but receiving near-zero credit.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376118" y="1667991"/>
            <a:ext cx="3276451" cy="622771"/>
          </a:xfrm>
          <a:prstGeom prst="roundRect">
            <a:avLst>
              <a:gd name="adj" fmla="val 918"/>
            </a:avLst>
          </a:prstGeom>
          <a:solidFill>
            <a:srgbClr val="E4E6E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224" y="1811685"/>
            <a:ext cx="130076" cy="104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4405" y="1762720"/>
            <a:ext cx="2834060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Marketplace appeared cheap on last-click but is actually the </a:t>
            </a:r>
            <a:r>
              <a:rPr lang="en-US" sz="8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most expensive channel</a:t>
            </a:r>
            <a:r>
              <a:rPr lang="en-US" sz="8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per true conversion at ₹22.49 CPA.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96119" y="4179540"/>
            <a:ext cx="4037633" cy="570681"/>
          </a:xfrm>
          <a:prstGeom prst="roundRect">
            <a:avLst>
              <a:gd name="adj" fmla="val 100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04986" y="428840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YouTube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4986" y="4496916"/>
            <a:ext cx="3819897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6.5x</a:t>
            </a: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cheaper than last-click suggested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610174" y="4179540"/>
            <a:ext cx="4037707" cy="570681"/>
          </a:xfrm>
          <a:prstGeom prst="roundRect">
            <a:avLst>
              <a:gd name="adj" fmla="val 1001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719042" y="428840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Marketplace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19042" y="4496916"/>
            <a:ext cx="381997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6.5x</a:t>
            </a: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more expensive than it appeared</a:t>
            </a:r>
            <a:endParaRPr lang="en-US" sz="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8CD51A-D722-FFE2-2D1B-16BCBB2E99D9}"/>
              </a:ext>
            </a:extLst>
          </p:cNvPr>
          <p:cNvSpPr/>
          <p:nvPr/>
        </p:nvSpPr>
        <p:spPr>
          <a:xfrm>
            <a:off x="7778931" y="4839790"/>
            <a:ext cx="1365069" cy="30371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082"/>
            <a:ext cx="747824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₹100 Crore Reallocation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25885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Budget allocated </a:t>
            </a: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inversely proportional to True CPA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lower CPA means more budget, more conversions. Each of 10 brands receives ₹10 Crore.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23281"/>
            <a:ext cx="8151763" cy="2407741"/>
          </a:xfrm>
          <a:prstGeom prst="roundRect">
            <a:avLst>
              <a:gd name="adj" fmla="val 2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482" y="1815182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Channel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0305" y="1815182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True CPA (₹)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5890" y="1815182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Recommended Budget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65714" y="1815182"/>
            <a:ext cx="2295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Budget 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482" y="2215679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YouTube 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0305" y="2215679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3.60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5890" y="2215679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₹3.73 Crore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65714" y="2215679"/>
            <a:ext cx="2295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37.3%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482" y="2616175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0305" y="2616175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4.98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5890" y="2616175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₹2.70 Crore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65714" y="2616175"/>
            <a:ext cx="2295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27.0%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482" y="3016672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Influencer Blog 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0305" y="3016672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6.15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5890" y="3016672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₹2.18 Crore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5714" y="3016672"/>
            <a:ext cx="2295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21.8%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482" y="3417168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Google Search 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0305" y="3417168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17.01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5890" y="3417168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₹0.79 Crore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65714" y="3417168"/>
            <a:ext cx="2295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7.9%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482" y="3817665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Marketplace 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20305" y="3817665"/>
            <a:ext cx="16437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22.49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5890" y="3817665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₹0.60 Crore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65714" y="3817665"/>
            <a:ext cx="22950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6.0%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6119" y="4285506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Actions:</a:t>
            </a: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Scale YouTube and Influencer Blog significantly. Cut Google Search by ~50% and Marketplace by ~40%. Add frequency cap on Marketplace to combat ad fatigue.</a:t>
            </a:r>
            <a:endParaRPr lang="en-US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AEA92D-348F-95A0-E54D-5A4C373A2433}"/>
              </a:ext>
            </a:extLst>
          </p:cNvPr>
          <p:cNvSpPr/>
          <p:nvPr/>
        </p:nvSpPr>
        <p:spPr>
          <a:xfrm>
            <a:off x="7778931" y="4794068"/>
            <a:ext cx="1365069" cy="349431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980"/>
            <a:ext cx="579462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Executive Decision Summary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398785" y="1097459"/>
            <a:ext cx="4105721" cy="2640062"/>
          </a:xfrm>
          <a:prstGeom prst="roundRect">
            <a:avLst>
              <a:gd name="adj" fmla="val 216"/>
            </a:avLst>
          </a:prstGeom>
          <a:solidFill>
            <a:srgbClr val="151617"/>
          </a:solidFill>
          <a:ln/>
        </p:spPr>
      </p:sp>
      <p:sp>
        <p:nvSpPr>
          <p:cNvPr id="4" name="Text 2"/>
          <p:cNvSpPr/>
          <p:nvPr/>
        </p:nvSpPr>
        <p:spPr>
          <a:xfrm>
            <a:off x="533846" y="1226195"/>
            <a:ext cx="260099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13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Defund Immediately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3846" y="1566044"/>
            <a:ext cx="3835598" cy="93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Heavy Marketplace campaigns — True CPA ₹22.49, overbudgeted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Standalone Google Search campaigns — True CPA ₹17.01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Any campaign targeting bot-heavy segments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846" y="2629272"/>
            <a:ext cx="270428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Scale These Channels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3846" y="2969121"/>
            <a:ext cx="3835598" cy="723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YouTube</a:t>
            </a:r>
            <a:r>
              <a:rPr lang="en-US" sz="10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Cheapest true CPA at ₹3.60, starts journeys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Influencer Blog</a:t>
            </a:r>
            <a:r>
              <a:rPr lang="en-US" sz="10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Strong mid-funnel at ₹6.15 true CPA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Instagram</a:t>
            </a:r>
            <a:r>
              <a:rPr lang="en-US" sz="10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Keep strong; it closes purchases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1590" y="1226195"/>
            <a:ext cx="238474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Operational Changes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41590" y="1566044"/>
            <a:ext cx="3911054" cy="723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Add frequency cap on Marketplace (ad fatigue detected)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 bot traffic filter on all future campaigns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Retire last-click attribution permanently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41590" y="241815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6119" y="3882405"/>
            <a:ext cx="4011513" cy="779115"/>
          </a:xfrm>
          <a:prstGeom prst="roundRect">
            <a:avLst>
              <a:gd name="adj" fmla="val 73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943" y="402222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+35–40%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943" y="4310583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More conversions on same ₹100Cr budget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36368" y="3882405"/>
            <a:ext cx="4011513" cy="779115"/>
          </a:xfrm>
          <a:prstGeom prst="roundRect">
            <a:avLst>
              <a:gd name="adj" fmla="val 73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blurRad="101600"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6192" y="402222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~46%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6192" y="4310583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Fraudulent traffic waste eliminated</a:t>
            </a:r>
            <a:endParaRPr lang="en-US" sz="10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F2A4C7-8668-77AD-0A1C-217440BD1BE3}"/>
              </a:ext>
            </a:extLst>
          </p:cNvPr>
          <p:cNvSpPr/>
          <p:nvPr/>
        </p:nvSpPr>
        <p:spPr>
          <a:xfrm>
            <a:off x="7778931" y="4734520"/>
            <a:ext cx="1365069" cy="40898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4515"/>
            <a:ext cx="472276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Attribution Revolution Starts Now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96119" y="1113979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data is clear. The methodology is proven. The ROI case is undeniable. It's time to stop rewarding the last click and start investing in the entire journey.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1452488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96119" y="1603772"/>
            <a:ext cx="4722763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681014"/>
            <a:ext cx="218137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Deploy Markov Chain Attribution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1873448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Replace last-click across all 10 brands immediately.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96119" y="2145060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96119" y="2296344"/>
            <a:ext cx="4722763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2373585"/>
            <a:ext cx="2241649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Implement Bot Detection at Scale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6119" y="2566020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Filter fraudulent traffic before any budget decision.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283763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96119" y="2988915"/>
            <a:ext cx="4722763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3066157"/>
            <a:ext cx="165236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Execute the Reallocation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119" y="3258592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Shift spend toward YouTube and Influencer Blog. Cap Marketplace.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96119" y="3530203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96119" y="3681487"/>
            <a:ext cx="4722763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9" name="Text 16"/>
          <p:cNvSpPr/>
          <p:nvPr/>
        </p:nvSpPr>
        <p:spPr>
          <a:xfrm>
            <a:off x="496119" y="375872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Measure True ROI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6119" y="3951163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Track conversion lift, CPA delta, and journey attribution monthly.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96119" y="4231184"/>
            <a:ext cx="4722763" cy="432346"/>
          </a:xfrm>
          <a:prstGeom prst="roundRect">
            <a:avLst>
              <a:gd name="adj" fmla="val 1322"/>
            </a:avLst>
          </a:prstGeom>
          <a:solidFill>
            <a:srgbClr val="E4E6E7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7" y="4358134"/>
            <a:ext cx="121816" cy="974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2750" y="4315792"/>
            <a:ext cx="430872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Tool Used:</a:t>
            </a:r>
            <a:r>
              <a:rPr lang="en-US" sz="7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ROI Lens (Markov Chain Attribution Framework) | </a:t>
            </a:r>
            <a:r>
              <a:rPr lang="en-US" sz="7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Partner:</a:t>
            </a:r>
            <a:r>
              <a:rPr lang="en-US" sz="7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Ai Palette Consumer Intelligence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870</Words>
  <Application>Microsoft Office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Montserrat Black</vt:lpstr>
      <vt:lpstr>Arial</vt:lpstr>
      <vt:lpstr>Twemoji Mozilla</vt:lpstr>
      <vt:lpstr>Montserrat Light</vt:lpstr>
      <vt:lpstr>Inconsolata</vt:lpstr>
      <vt:lpstr>Inconsolata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Bharath Krishna</cp:lastModifiedBy>
  <cp:revision>2</cp:revision>
  <dcterms:created xsi:type="dcterms:W3CDTF">2026-06-25T16:33:19Z</dcterms:created>
  <dcterms:modified xsi:type="dcterms:W3CDTF">2026-06-25T16:43:43Z</dcterms:modified>
</cp:coreProperties>
</file>